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71" r:id="rId14"/>
    <p:sldId id="272" r:id="rId15"/>
    <p:sldId id="266"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22" autoAdjust="0"/>
    <p:restoredTop sz="94660"/>
  </p:normalViewPr>
  <p:slideViewPr>
    <p:cSldViewPr snapToGrid="0">
      <p:cViewPr varScale="1">
        <p:scale>
          <a:sx n="87" d="100"/>
          <a:sy n="87" d="100"/>
        </p:scale>
        <p:origin x="97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E44419-E492-4618-9190-8187C7F8FA85}"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42342462-87E8-4200-AF1E-E77605E70139}">
      <dgm:prSet/>
      <dgm:spPr/>
      <dgm:t>
        <a:bodyPr/>
        <a:lstStyle/>
        <a:p>
          <a:r>
            <a:rPr lang="en-IN"/>
            <a:t>Each element of the list </a:t>
          </a:r>
          <a:r>
            <a:rPr lang="en-IN" b="1"/>
            <a:t>students</a:t>
          </a:r>
          <a:r>
            <a:rPr lang="en-IN"/>
            <a:t> is a dictionary, containing key-value pairs, with the keys common for each student, as shown in the left column of the window.</a:t>
          </a:r>
          <a:endParaRPr lang="en-US"/>
        </a:p>
      </dgm:t>
    </dgm:pt>
    <dgm:pt modelId="{4985FEFE-6D8F-47CB-A957-7268B44B594E}" type="parTrans" cxnId="{37C35C14-64F7-412A-A577-AEE6540BE875}">
      <dgm:prSet/>
      <dgm:spPr/>
      <dgm:t>
        <a:bodyPr/>
        <a:lstStyle/>
        <a:p>
          <a:endParaRPr lang="en-US"/>
        </a:p>
      </dgm:t>
    </dgm:pt>
    <dgm:pt modelId="{97C9DD05-6CC9-4648-AE03-2E6B6BCF5150}" type="sibTrans" cxnId="{37C35C14-64F7-412A-A577-AEE6540BE875}">
      <dgm:prSet/>
      <dgm:spPr/>
      <dgm:t>
        <a:bodyPr/>
        <a:lstStyle/>
        <a:p>
          <a:endParaRPr lang="en-US"/>
        </a:p>
      </dgm:t>
    </dgm:pt>
    <dgm:pt modelId="{CB1BB394-9BFA-42E2-87B3-D4CA82FCDEC8}">
      <dgm:prSet/>
      <dgm:spPr/>
      <dgm:t>
        <a:bodyPr/>
        <a:lstStyle/>
        <a:p>
          <a:r>
            <a:rPr lang="en-IN"/>
            <a:t>The values are the actual details of the student according to the keys.</a:t>
          </a:r>
          <a:endParaRPr lang="en-US"/>
        </a:p>
      </dgm:t>
    </dgm:pt>
    <dgm:pt modelId="{D8A4F2EE-4E77-47E6-AEF7-A4CAB09F0928}" type="parTrans" cxnId="{327E92B0-E17B-40D8-9711-2FC71B5756E4}">
      <dgm:prSet/>
      <dgm:spPr/>
      <dgm:t>
        <a:bodyPr/>
        <a:lstStyle/>
        <a:p>
          <a:endParaRPr lang="en-US"/>
        </a:p>
      </dgm:t>
    </dgm:pt>
    <dgm:pt modelId="{0D83F669-9B79-4D57-B8DD-6A667C632EA1}" type="sibTrans" cxnId="{327E92B0-E17B-40D8-9711-2FC71B5756E4}">
      <dgm:prSet/>
      <dgm:spPr/>
      <dgm:t>
        <a:bodyPr/>
        <a:lstStyle/>
        <a:p>
          <a:endParaRPr lang="en-US"/>
        </a:p>
      </dgm:t>
    </dgm:pt>
    <dgm:pt modelId="{91E954DF-662A-4BE6-B421-69E1D1FAF050}">
      <dgm:prSet/>
      <dgm:spPr/>
      <dgm:t>
        <a:bodyPr/>
        <a:lstStyle/>
        <a:p>
          <a:r>
            <a:rPr lang="en-IN"/>
            <a:t>For example, “Name” key will have the actual name of the student as the value.</a:t>
          </a:r>
          <a:endParaRPr lang="en-US"/>
        </a:p>
      </dgm:t>
    </dgm:pt>
    <dgm:pt modelId="{12A43B3D-B21C-4262-B46B-7EFDD2A405C0}" type="parTrans" cxnId="{31EF93AD-E1EB-43C2-8E2E-74A38374AB35}">
      <dgm:prSet/>
      <dgm:spPr/>
      <dgm:t>
        <a:bodyPr/>
        <a:lstStyle/>
        <a:p>
          <a:endParaRPr lang="en-US"/>
        </a:p>
      </dgm:t>
    </dgm:pt>
    <dgm:pt modelId="{360B32C9-5BAC-48EB-820B-54F4CF3D5DA4}" type="sibTrans" cxnId="{31EF93AD-E1EB-43C2-8E2E-74A38374AB35}">
      <dgm:prSet/>
      <dgm:spPr/>
      <dgm:t>
        <a:bodyPr/>
        <a:lstStyle/>
        <a:p>
          <a:endParaRPr lang="en-US"/>
        </a:p>
      </dgm:t>
    </dgm:pt>
    <dgm:pt modelId="{80D66730-B123-477B-8D15-0AD068A8C691}" type="pres">
      <dgm:prSet presAssocID="{BEE44419-E492-4618-9190-8187C7F8FA85}" presName="linear" presStyleCnt="0">
        <dgm:presLayoutVars>
          <dgm:animLvl val="lvl"/>
          <dgm:resizeHandles val="exact"/>
        </dgm:presLayoutVars>
      </dgm:prSet>
      <dgm:spPr/>
    </dgm:pt>
    <dgm:pt modelId="{52BB858A-3AF9-4194-8D78-D9203421847F}" type="pres">
      <dgm:prSet presAssocID="{42342462-87E8-4200-AF1E-E77605E70139}" presName="parentText" presStyleLbl="node1" presStyleIdx="0" presStyleCnt="3">
        <dgm:presLayoutVars>
          <dgm:chMax val="0"/>
          <dgm:bulletEnabled val="1"/>
        </dgm:presLayoutVars>
      </dgm:prSet>
      <dgm:spPr/>
    </dgm:pt>
    <dgm:pt modelId="{3895E323-A821-40C4-A724-DF5D6D42E8E2}" type="pres">
      <dgm:prSet presAssocID="{97C9DD05-6CC9-4648-AE03-2E6B6BCF5150}" presName="spacer" presStyleCnt="0"/>
      <dgm:spPr/>
    </dgm:pt>
    <dgm:pt modelId="{EDA17947-7A4C-4303-B0F0-C7F854FCF432}" type="pres">
      <dgm:prSet presAssocID="{CB1BB394-9BFA-42E2-87B3-D4CA82FCDEC8}" presName="parentText" presStyleLbl="node1" presStyleIdx="1" presStyleCnt="3">
        <dgm:presLayoutVars>
          <dgm:chMax val="0"/>
          <dgm:bulletEnabled val="1"/>
        </dgm:presLayoutVars>
      </dgm:prSet>
      <dgm:spPr/>
    </dgm:pt>
    <dgm:pt modelId="{20D36E50-4687-4A8D-81AD-CB091A96CC55}" type="pres">
      <dgm:prSet presAssocID="{0D83F669-9B79-4D57-B8DD-6A667C632EA1}" presName="spacer" presStyleCnt="0"/>
      <dgm:spPr/>
    </dgm:pt>
    <dgm:pt modelId="{D4C20AED-2A47-4BE7-9076-E88AF73E2EA5}" type="pres">
      <dgm:prSet presAssocID="{91E954DF-662A-4BE6-B421-69E1D1FAF050}" presName="parentText" presStyleLbl="node1" presStyleIdx="2" presStyleCnt="3">
        <dgm:presLayoutVars>
          <dgm:chMax val="0"/>
          <dgm:bulletEnabled val="1"/>
        </dgm:presLayoutVars>
      </dgm:prSet>
      <dgm:spPr/>
    </dgm:pt>
  </dgm:ptLst>
  <dgm:cxnLst>
    <dgm:cxn modelId="{E5BD200C-3DC3-481A-B024-4496F40E263A}" type="presOf" srcId="{BEE44419-E492-4618-9190-8187C7F8FA85}" destId="{80D66730-B123-477B-8D15-0AD068A8C691}" srcOrd="0" destOrd="0" presId="urn:microsoft.com/office/officeart/2005/8/layout/vList2"/>
    <dgm:cxn modelId="{37C35C14-64F7-412A-A577-AEE6540BE875}" srcId="{BEE44419-E492-4618-9190-8187C7F8FA85}" destId="{42342462-87E8-4200-AF1E-E77605E70139}" srcOrd="0" destOrd="0" parTransId="{4985FEFE-6D8F-47CB-A957-7268B44B594E}" sibTransId="{97C9DD05-6CC9-4648-AE03-2E6B6BCF5150}"/>
    <dgm:cxn modelId="{1CAD511D-5197-4D75-8BE1-A25F5842F774}" type="presOf" srcId="{CB1BB394-9BFA-42E2-87B3-D4CA82FCDEC8}" destId="{EDA17947-7A4C-4303-B0F0-C7F854FCF432}" srcOrd="0" destOrd="0" presId="urn:microsoft.com/office/officeart/2005/8/layout/vList2"/>
    <dgm:cxn modelId="{7768697D-53E2-461E-BA13-A3C8BE98795A}" type="presOf" srcId="{42342462-87E8-4200-AF1E-E77605E70139}" destId="{52BB858A-3AF9-4194-8D78-D9203421847F}" srcOrd="0" destOrd="0" presId="urn:microsoft.com/office/officeart/2005/8/layout/vList2"/>
    <dgm:cxn modelId="{E6174293-A293-4A54-BB74-5D4B3D8DA93E}" type="presOf" srcId="{91E954DF-662A-4BE6-B421-69E1D1FAF050}" destId="{D4C20AED-2A47-4BE7-9076-E88AF73E2EA5}" srcOrd="0" destOrd="0" presId="urn:microsoft.com/office/officeart/2005/8/layout/vList2"/>
    <dgm:cxn modelId="{31EF93AD-E1EB-43C2-8E2E-74A38374AB35}" srcId="{BEE44419-E492-4618-9190-8187C7F8FA85}" destId="{91E954DF-662A-4BE6-B421-69E1D1FAF050}" srcOrd="2" destOrd="0" parTransId="{12A43B3D-B21C-4262-B46B-7EFDD2A405C0}" sibTransId="{360B32C9-5BAC-48EB-820B-54F4CF3D5DA4}"/>
    <dgm:cxn modelId="{327E92B0-E17B-40D8-9711-2FC71B5756E4}" srcId="{BEE44419-E492-4618-9190-8187C7F8FA85}" destId="{CB1BB394-9BFA-42E2-87B3-D4CA82FCDEC8}" srcOrd="1" destOrd="0" parTransId="{D8A4F2EE-4E77-47E6-AEF7-A4CAB09F0928}" sibTransId="{0D83F669-9B79-4D57-B8DD-6A667C632EA1}"/>
    <dgm:cxn modelId="{2A9C715F-F103-48E2-BDBD-41D430FE6E33}" type="presParOf" srcId="{80D66730-B123-477B-8D15-0AD068A8C691}" destId="{52BB858A-3AF9-4194-8D78-D9203421847F}" srcOrd="0" destOrd="0" presId="urn:microsoft.com/office/officeart/2005/8/layout/vList2"/>
    <dgm:cxn modelId="{700A335E-115C-4671-BFD7-A8B2EB7418B5}" type="presParOf" srcId="{80D66730-B123-477B-8D15-0AD068A8C691}" destId="{3895E323-A821-40C4-A724-DF5D6D42E8E2}" srcOrd="1" destOrd="0" presId="urn:microsoft.com/office/officeart/2005/8/layout/vList2"/>
    <dgm:cxn modelId="{8B5E3C32-2628-40B0-ACC1-EF29DA6DFFA2}" type="presParOf" srcId="{80D66730-B123-477B-8D15-0AD068A8C691}" destId="{EDA17947-7A4C-4303-B0F0-C7F854FCF432}" srcOrd="2" destOrd="0" presId="urn:microsoft.com/office/officeart/2005/8/layout/vList2"/>
    <dgm:cxn modelId="{D56E0E29-578F-425C-AFF6-A2A2526A8206}" type="presParOf" srcId="{80D66730-B123-477B-8D15-0AD068A8C691}" destId="{20D36E50-4687-4A8D-81AD-CB091A96CC55}" srcOrd="3" destOrd="0" presId="urn:microsoft.com/office/officeart/2005/8/layout/vList2"/>
    <dgm:cxn modelId="{8D48C3F2-9353-45E6-ADB6-269D8E610C62}" type="presParOf" srcId="{80D66730-B123-477B-8D15-0AD068A8C691}" destId="{D4C20AED-2A47-4BE7-9076-E88AF73E2EA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BB858A-3AF9-4194-8D78-D9203421847F}">
      <dsp:nvSpPr>
        <dsp:cNvPr id="0" name=""/>
        <dsp:cNvSpPr/>
      </dsp:nvSpPr>
      <dsp:spPr>
        <a:xfrm>
          <a:off x="0" y="88520"/>
          <a:ext cx="6666833" cy="17128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a:t>Each element of the list </a:t>
          </a:r>
          <a:r>
            <a:rPr lang="en-IN" sz="2400" b="1" kern="1200"/>
            <a:t>students</a:t>
          </a:r>
          <a:r>
            <a:rPr lang="en-IN" sz="2400" kern="1200"/>
            <a:t> is a dictionary, containing key-value pairs, with the keys common for each student, as shown in the left column of the window.</a:t>
          </a:r>
          <a:endParaRPr lang="en-US" sz="2400" kern="1200"/>
        </a:p>
      </dsp:txBody>
      <dsp:txXfrm>
        <a:off x="83616" y="172136"/>
        <a:ext cx="6499601" cy="1545648"/>
      </dsp:txXfrm>
    </dsp:sp>
    <dsp:sp modelId="{EDA17947-7A4C-4303-B0F0-C7F854FCF432}">
      <dsp:nvSpPr>
        <dsp:cNvPr id="0" name=""/>
        <dsp:cNvSpPr/>
      </dsp:nvSpPr>
      <dsp:spPr>
        <a:xfrm>
          <a:off x="0" y="1870520"/>
          <a:ext cx="6666833" cy="171288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a:t>The values are the actual details of the student according to the keys.</a:t>
          </a:r>
          <a:endParaRPr lang="en-US" sz="2400" kern="1200"/>
        </a:p>
      </dsp:txBody>
      <dsp:txXfrm>
        <a:off x="83616" y="1954136"/>
        <a:ext cx="6499601" cy="1545648"/>
      </dsp:txXfrm>
    </dsp:sp>
    <dsp:sp modelId="{D4C20AED-2A47-4BE7-9076-E88AF73E2EA5}">
      <dsp:nvSpPr>
        <dsp:cNvPr id="0" name=""/>
        <dsp:cNvSpPr/>
      </dsp:nvSpPr>
      <dsp:spPr>
        <a:xfrm>
          <a:off x="0" y="3652520"/>
          <a:ext cx="6666833" cy="171288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a:t>For example, “Name” key will have the actual name of the student as the value.</a:t>
          </a:r>
          <a:endParaRPr lang="en-US" sz="2400" kern="1200"/>
        </a:p>
      </dsp:txBody>
      <dsp:txXfrm>
        <a:off x="83616" y="3736136"/>
        <a:ext cx="6499601" cy="15456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1F64-9BF2-E496-3AAB-63DB7DA8A5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22B8AC-D50F-08BE-1D53-DE9582C7CF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0D4CFA1-F8A0-D879-D2E9-8B3C30EAE229}"/>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5" name="Footer Placeholder 4">
            <a:extLst>
              <a:ext uri="{FF2B5EF4-FFF2-40B4-BE49-F238E27FC236}">
                <a16:creationId xmlns:a16="http://schemas.microsoft.com/office/drawing/2014/main" id="{9E2BCAB0-66A9-82BF-D171-4DDF962225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45EBA1-BA82-6860-3F21-55CD9114D2B0}"/>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2499249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E6F5D-06B8-44E3-E396-06A68580F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F524B8-2F53-FBBF-7202-39A4DB3F57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FB4FBB-5A56-1870-0921-92861F0FBD1F}"/>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5" name="Footer Placeholder 4">
            <a:extLst>
              <a:ext uri="{FF2B5EF4-FFF2-40B4-BE49-F238E27FC236}">
                <a16:creationId xmlns:a16="http://schemas.microsoft.com/office/drawing/2014/main" id="{97209123-98AD-A3EB-1497-975FBB4DFF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58584E-DF29-D989-D951-31B78F5FDB12}"/>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1981897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C8F8A-4842-13BE-A085-F737CC022D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CF9853-877B-553C-D640-B52E66D553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68FABC-3C2C-503A-34B7-B2E8E7238C63}"/>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5" name="Footer Placeholder 4">
            <a:extLst>
              <a:ext uri="{FF2B5EF4-FFF2-40B4-BE49-F238E27FC236}">
                <a16:creationId xmlns:a16="http://schemas.microsoft.com/office/drawing/2014/main" id="{81381B50-ED4E-F67F-3E1B-196D83FDB3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A1D0FF-8136-6D8F-E4D3-EAFC6F7FA8BC}"/>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3331835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8C583-1C42-9FE5-4EC4-9BA9392E50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C1DD0D-66C6-D6B2-5BC4-8A5C289164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03F4540-4BB6-C215-78FF-E8EF071562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E90DC8-E610-792B-1976-5562C1147998}"/>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6" name="Footer Placeholder 5">
            <a:extLst>
              <a:ext uri="{FF2B5EF4-FFF2-40B4-BE49-F238E27FC236}">
                <a16:creationId xmlns:a16="http://schemas.microsoft.com/office/drawing/2014/main" id="{743E5DDA-D826-22F3-456D-1ECD54C414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68E99F-DC6E-1ADC-E284-48BC62A44458}"/>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2419966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B57E-16E7-4D9D-A262-5E6DC90DAC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8D6A94-0E98-00AA-68BE-D58397C315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26AE7B-A408-4DC4-CFDD-3246ACA899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11E772-709F-15C9-10DA-997A8B4E2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6EF11F-A4B7-3F98-20ED-3B174CAD0E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75EF0F-26BB-5D60-BACE-BD21A591C846}"/>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8" name="Footer Placeholder 7">
            <a:extLst>
              <a:ext uri="{FF2B5EF4-FFF2-40B4-BE49-F238E27FC236}">
                <a16:creationId xmlns:a16="http://schemas.microsoft.com/office/drawing/2014/main" id="{5D1447D1-0300-86D1-FFD3-885608CA26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58AFCFA-419A-0876-282E-3311662381E1}"/>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1795393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D8BF4-F636-D013-BBEE-5C104DCFEA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576801-8CD5-305F-0FBA-66BEB44FA823}"/>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4" name="Footer Placeholder 3">
            <a:extLst>
              <a:ext uri="{FF2B5EF4-FFF2-40B4-BE49-F238E27FC236}">
                <a16:creationId xmlns:a16="http://schemas.microsoft.com/office/drawing/2014/main" id="{9EBB9C3F-8B2C-9B5D-D6E1-714306A849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309A30-0148-27E6-C8C3-F60458A0FEDC}"/>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2515704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B5ED84-5860-EDD4-6FDD-D32819D70144}"/>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3" name="Footer Placeholder 2">
            <a:extLst>
              <a:ext uri="{FF2B5EF4-FFF2-40B4-BE49-F238E27FC236}">
                <a16:creationId xmlns:a16="http://schemas.microsoft.com/office/drawing/2014/main" id="{35D26222-21A0-4C5C-4C5D-1F4967B2231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80A32F-1D80-2515-0730-7EF61C7DC61A}"/>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162638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4C26-E9E3-9872-18B3-58B5E8EC18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9DC0B3-762A-3B0C-01AE-E48C145224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F74571-D9D7-8DC8-86D1-08CDB7E820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E661D4-9EC7-03EC-A614-2E73DDAF7F3F}"/>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6" name="Footer Placeholder 5">
            <a:extLst>
              <a:ext uri="{FF2B5EF4-FFF2-40B4-BE49-F238E27FC236}">
                <a16:creationId xmlns:a16="http://schemas.microsoft.com/office/drawing/2014/main" id="{877438DE-AF78-6FF0-DC59-5E616C658E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B78D2C-916C-AE49-B2F5-0E650758E4A3}"/>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1185651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8341C-23CC-7C92-EB95-957D7273F4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08F8DF-BABB-622A-F235-099150ADD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1C24EF-8B6C-9306-74D8-F816069E14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8C5B0F-115F-B4DE-20C7-44DAEDB99B88}"/>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6" name="Footer Placeholder 5">
            <a:extLst>
              <a:ext uri="{FF2B5EF4-FFF2-40B4-BE49-F238E27FC236}">
                <a16:creationId xmlns:a16="http://schemas.microsoft.com/office/drawing/2014/main" id="{E0E7770B-38A6-5B2D-866D-A1B5202454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524336-6B59-FD0B-F2A0-230BA9D29E88}"/>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2287188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8FEBC-E866-6779-38CA-8A011E866F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0017B3-21B8-7217-2455-C044267D5E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8F2168-0A15-C503-8194-D4171F6F8F0A}"/>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5" name="Footer Placeholder 4">
            <a:extLst>
              <a:ext uri="{FF2B5EF4-FFF2-40B4-BE49-F238E27FC236}">
                <a16:creationId xmlns:a16="http://schemas.microsoft.com/office/drawing/2014/main" id="{3F9AFA77-8292-8C38-D4B9-5C55D1F826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A2AC16-9857-5F5E-AD34-6E4601F7856A}"/>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4224485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F764C2-675E-B2F8-02C6-567991E60B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B976E8-4E76-C59C-556C-CA8776569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8BE0DE-F673-4CF1-8F07-9B6B8F49A82F}"/>
              </a:ext>
            </a:extLst>
          </p:cNvPr>
          <p:cNvSpPr>
            <a:spLocks noGrp="1"/>
          </p:cNvSpPr>
          <p:nvPr>
            <p:ph type="dt" sz="half" idx="10"/>
          </p:nvPr>
        </p:nvSpPr>
        <p:spPr/>
        <p:txBody>
          <a:bodyPr/>
          <a:lstStyle/>
          <a:p>
            <a:fld id="{DC941E6F-90C4-459E-8450-AA99FD967469}" type="datetimeFigureOut">
              <a:rPr lang="en-IN" smtClean="0"/>
              <a:t>14-07-2026</a:t>
            </a:fld>
            <a:endParaRPr lang="en-IN"/>
          </a:p>
        </p:txBody>
      </p:sp>
      <p:sp>
        <p:nvSpPr>
          <p:cNvPr id="5" name="Footer Placeholder 4">
            <a:extLst>
              <a:ext uri="{FF2B5EF4-FFF2-40B4-BE49-F238E27FC236}">
                <a16:creationId xmlns:a16="http://schemas.microsoft.com/office/drawing/2014/main" id="{93DDAB70-5DA9-E183-406A-E9FA1A9A66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C98EB4-C2E0-719F-9468-C7DF2E5ECF27}"/>
              </a:ext>
            </a:extLst>
          </p:cNvPr>
          <p:cNvSpPr>
            <a:spLocks noGrp="1"/>
          </p:cNvSpPr>
          <p:nvPr>
            <p:ph type="sldNum" sz="quarter" idx="12"/>
          </p:nvPr>
        </p:nvSpPr>
        <p:spPr/>
        <p:txBody>
          <a:bodyPr/>
          <a:lstStyle/>
          <a:p>
            <a:fld id="{3858EF1F-DD43-452A-894F-465F83CADC4E}" type="slidenum">
              <a:rPr lang="en-IN" smtClean="0"/>
              <a:t>‹#›</a:t>
            </a:fld>
            <a:endParaRPr lang="en-IN"/>
          </a:p>
        </p:txBody>
      </p:sp>
    </p:spTree>
    <p:extLst>
      <p:ext uri="{BB962C8B-B14F-4D97-AF65-F5344CB8AC3E}">
        <p14:creationId xmlns:p14="http://schemas.microsoft.com/office/powerpoint/2010/main" val="4275759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4FD038-6922-AA92-EB6B-D335A2DF47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ED142F-4794-2EBE-ABF7-E929B0608C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87BDA8-EC00-FDE5-3215-AD0571880D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941E6F-90C4-459E-8450-AA99FD967469}" type="datetimeFigureOut">
              <a:rPr lang="en-IN" smtClean="0"/>
              <a:t>14-07-2026</a:t>
            </a:fld>
            <a:endParaRPr lang="en-IN"/>
          </a:p>
        </p:txBody>
      </p:sp>
      <p:sp>
        <p:nvSpPr>
          <p:cNvPr id="5" name="Footer Placeholder 4">
            <a:extLst>
              <a:ext uri="{FF2B5EF4-FFF2-40B4-BE49-F238E27FC236}">
                <a16:creationId xmlns:a16="http://schemas.microsoft.com/office/drawing/2014/main" id="{BD9612E1-B595-68BB-F2D1-D7F0D53C9C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FEF049E-B023-A482-F547-345B046EBA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58EF1F-DD43-452A-894F-465F83CADC4E}" type="slidenum">
              <a:rPr lang="en-IN" smtClean="0"/>
              <a:t>‹#›</a:t>
            </a:fld>
            <a:endParaRPr lang="en-IN"/>
          </a:p>
        </p:txBody>
      </p:sp>
    </p:spTree>
    <p:extLst>
      <p:ext uri="{BB962C8B-B14F-4D97-AF65-F5344CB8AC3E}">
        <p14:creationId xmlns:p14="http://schemas.microsoft.com/office/powerpoint/2010/main" val="461514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1C486-8F59-5193-9E4D-F82B2496E47F}"/>
              </a:ext>
            </a:extLst>
          </p:cNvPr>
          <p:cNvSpPr>
            <a:spLocks noGrp="1"/>
          </p:cNvSpPr>
          <p:nvPr>
            <p:ph type="ctrTitle"/>
          </p:nvPr>
        </p:nvSpPr>
        <p:spPr/>
        <p:txBody>
          <a:bodyPr/>
          <a:lstStyle/>
          <a:p>
            <a:r>
              <a:rPr lang="en-IN" dirty="0">
                <a:latin typeface="Algerian" panose="04020705040A02060702" pitchFamily="82" charset="0"/>
              </a:rPr>
              <a:t>STUDENT PERFORMANCE ANALYSER</a:t>
            </a:r>
          </a:p>
        </p:txBody>
      </p:sp>
      <p:sp>
        <p:nvSpPr>
          <p:cNvPr id="3" name="Subtitle 2">
            <a:extLst>
              <a:ext uri="{FF2B5EF4-FFF2-40B4-BE49-F238E27FC236}">
                <a16:creationId xmlns:a16="http://schemas.microsoft.com/office/drawing/2014/main" id="{20CA7EF6-B047-FEC3-625F-D258E11B89EF}"/>
              </a:ext>
            </a:extLst>
          </p:cNvPr>
          <p:cNvSpPr>
            <a:spLocks noGrp="1"/>
          </p:cNvSpPr>
          <p:nvPr>
            <p:ph type="subTitle" idx="1"/>
          </p:nvPr>
        </p:nvSpPr>
        <p:spPr/>
        <p:txBody>
          <a:bodyPr/>
          <a:lstStyle/>
          <a:p>
            <a:r>
              <a:rPr lang="en-IN" i="1" dirty="0"/>
              <a:t>By Kaushik and Siddharth</a:t>
            </a:r>
          </a:p>
        </p:txBody>
      </p:sp>
    </p:spTree>
    <p:extLst>
      <p:ext uri="{BB962C8B-B14F-4D97-AF65-F5344CB8AC3E}">
        <p14:creationId xmlns:p14="http://schemas.microsoft.com/office/powerpoint/2010/main" val="2947923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A8E1-EFDE-F9AA-3BA5-D3E96B003095}"/>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C034F87B-745E-C0E8-5AAF-C289D71FC17C}"/>
              </a:ext>
            </a:extLst>
          </p:cNvPr>
          <p:cNvSpPr>
            <a:spLocks noGrp="1"/>
          </p:cNvSpPr>
          <p:nvPr>
            <p:ph idx="1"/>
          </p:nvPr>
        </p:nvSpPr>
        <p:spPr/>
        <p:txBody>
          <a:bodyPr/>
          <a:lstStyle/>
          <a:p>
            <a:r>
              <a:rPr lang="en-IN" dirty="0"/>
              <a:t>We have tried to create an efficient analyser, that can do the following:</a:t>
            </a:r>
          </a:p>
          <a:p>
            <a:pPr marL="514350" indent="-514350">
              <a:buFont typeface="+mj-lt"/>
              <a:buAutoNum type="arabicPeriod"/>
            </a:pPr>
            <a:r>
              <a:rPr lang="en-IN" dirty="0"/>
              <a:t>Give the user the initiative to add or upload Name, </a:t>
            </a:r>
            <a:r>
              <a:rPr lang="en-IN" dirty="0" err="1"/>
              <a:t>Enrollment</a:t>
            </a:r>
            <a:r>
              <a:rPr lang="en-IN" dirty="0"/>
              <a:t> ID, Marks of Three </a:t>
            </a:r>
            <a:r>
              <a:rPr lang="en-IN" dirty="0" err="1"/>
              <a:t>Courses,and</a:t>
            </a:r>
            <a:r>
              <a:rPr lang="en-IN" dirty="0"/>
              <a:t> store the data</a:t>
            </a:r>
          </a:p>
          <a:p>
            <a:pPr marL="514350" indent="-514350">
              <a:buFont typeface="+mj-lt"/>
              <a:buAutoNum type="arabicPeriod"/>
            </a:pPr>
            <a:r>
              <a:rPr lang="en-IN" dirty="0"/>
              <a:t>Calculate the SGPA of the particular semester with the given data, and save the data.</a:t>
            </a:r>
          </a:p>
          <a:p>
            <a:pPr marL="514350" indent="-514350">
              <a:buFont typeface="+mj-lt"/>
              <a:buAutoNum type="arabicPeriod"/>
            </a:pPr>
            <a:r>
              <a:rPr lang="en-IN" dirty="0"/>
              <a:t>Give a rough visual overview of the performance of the particular batch, through graphics.</a:t>
            </a:r>
          </a:p>
        </p:txBody>
      </p:sp>
    </p:spTree>
    <p:extLst>
      <p:ext uri="{BB962C8B-B14F-4D97-AF65-F5344CB8AC3E}">
        <p14:creationId xmlns:p14="http://schemas.microsoft.com/office/powerpoint/2010/main" val="2066035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E8B4F-6DE4-B0A6-0827-09F8655DAEA0}"/>
              </a:ext>
            </a:extLst>
          </p:cNvPr>
          <p:cNvSpPr>
            <a:spLocks noGrp="1"/>
          </p:cNvSpPr>
          <p:nvPr>
            <p:ph type="title"/>
          </p:nvPr>
        </p:nvSpPr>
        <p:spPr/>
        <p:txBody>
          <a:bodyPr/>
          <a:lstStyle/>
          <a:p>
            <a:r>
              <a:rPr lang="en-IN" dirty="0"/>
              <a:t>                           PYTHON</a:t>
            </a:r>
          </a:p>
        </p:txBody>
      </p:sp>
      <p:sp>
        <p:nvSpPr>
          <p:cNvPr id="3" name="Content Placeholder 2">
            <a:extLst>
              <a:ext uri="{FF2B5EF4-FFF2-40B4-BE49-F238E27FC236}">
                <a16:creationId xmlns:a16="http://schemas.microsoft.com/office/drawing/2014/main" id="{E0D8EC4C-BAEC-CD3D-E739-0C5C4747E55E}"/>
              </a:ext>
            </a:extLst>
          </p:cNvPr>
          <p:cNvSpPr>
            <a:spLocks noGrp="1"/>
          </p:cNvSpPr>
          <p:nvPr>
            <p:ph idx="1"/>
          </p:nvPr>
        </p:nvSpPr>
        <p:spPr/>
        <p:txBody>
          <a:bodyPr/>
          <a:lstStyle/>
          <a:p>
            <a:r>
              <a:rPr lang="en-IN" dirty="0"/>
              <a:t>We have used </a:t>
            </a:r>
            <a:r>
              <a:rPr lang="en-IN" b="1" dirty="0" err="1"/>
              <a:t>Tkinter</a:t>
            </a:r>
            <a:r>
              <a:rPr lang="en-IN" b="1" dirty="0"/>
              <a:t> </a:t>
            </a:r>
            <a:r>
              <a:rPr lang="en-IN" dirty="0"/>
              <a:t>module for displaying a GUI (Graphical User Interface) type system, so that the user can navigate with ease as compared to a console-based system.</a:t>
            </a:r>
          </a:p>
          <a:p>
            <a:r>
              <a:rPr lang="en-IN" b="1" dirty="0" err="1"/>
              <a:t>Tkinter</a:t>
            </a:r>
            <a:r>
              <a:rPr lang="en-IN" b="1" dirty="0"/>
              <a:t> </a:t>
            </a:r>
            <a:r>
              <a:rPr lang="en-IN" dirty="0"/>
              <a:t>has lots of in-built widget features, pack </a:t>
            </a:r>
            <a:r>
              <a:rPr lang="en-IN" dirty="0" err="1"/>
              <a:t>functions,grid</a:t>
            </a:r>
            <a:r>
              <a:rPr lang="en-IN" dirty="0"/>
              <a:t> system and ability to integrate </a:t>
            </a:r>
            <a:r>
              <a:rPr lang="en-IN" i="1" dirty="0"/>
              <a:t>matplotlib </a:t>
            </a:r>
            <a:r>
              <a:rPr lang="en-IN" dirty="0"/>
              <a:t>for data visualization.</a:t>
            </a:r>
          </a:p>
          <a:p>
            <a:r>
              <a:rPr lang="en-IN" dirty="0"/>
              <a:t>We have used </a:t>
            </a:r>
            <a:r>
              <a:rPr lang="en-IN" dirty="0" err="1"/>
              <a:t>Tkinter</a:t>
            </a:r>
            <a:r>
              <a:rPr lang="en-IN" dirty="0"/>
              <a:t> as the base for our system and we have used multiple windows to display our various features</a:t>
            </a:r>
          </a:p>
        </p:txBody>
      </p:sp>
      <p:pic>
        <p:nvPicPr>
          <p:cNvPr id="4" name="Picture 3" descr="File:Python-logo-notext.svg - Wikimedia Commons">
            <a:extLst>
              <a:ext uri="{FF2B5EF4-FFF2-40B4-BE49-F238E27FC236}">
                <a16:creationId xmlns:a16="http://schemas.microsoft.com/office/drawing/2014/main" id="{62F653B2-1C98-3B4D-A2DD-D6725C217EB8}"/>
              </a:ext>
            </a:extLst>
          </p:cNvPr>
          <p:cNvPicPr>
            <a:picLocks noChangeAspect="1"/>
          </p:cNvPicPr>
          <p:nvPr/>
        </p:nvPicPr>
        <p:blipFill>
          <a:blip r:embed="rId2"/>
          <a:stretch>
            <a:fillRect/>
          </a:stretch>
        </p:blipFill>
        <p:spPr>
          <a:xfrm>
            <a:off x="7351776" y="365125"/>
            <a:ext cx="1355522" cy="1355522"/>
          </a:xfrm>
          <a:prstGeom prst="rect">
            <a:avLst/>
          </a:prstGeom>
        </p:spPr>
      </p:pic>
    </p:spTree>
    <p:extLst>
      <p:ext uri="{BB962C8B-B14F-4D97-AF65-F5344CB8AC3E}">
        <p14:creationId xmlns:p14="http://schemas.microsoft.com/office/powerpoint/2010/main" val="2126207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78AAA3-1054-755B-C69D-E0FC816F41D2}"/>
              </a:ext>
            </a:extLst>
          </p:cNvPr>
          <p:cNvSpPr>
            <a:spLocks noGrp="1"/>
          </p:cNvSpPr>
          <p:nvPr>
            <p:ph type="title"/>
          </p:nvPr>
        </p:nvSpPr>
        <p:spPr>
          <a:xfrm>
            <a:off x="556532" y="643467"/>
            <a:ext cx="11210925" cy="744836"/>
          </a:xfrm>
        </p:spPr>
        <p:txBody>
          <a:bodyPr>
            <a:normAutofit/>
          </a:bodyPr>
          <a:lstStyle/>
          <a:p>
            <a:pPr algn="ctr"/>
            <a:r>
              <a:rPr lang="en-IN" sz="3200">
                <a:solidFill>
                  <a:schemeClr val="bg1"/>
                </a:solidFill>
              </a:rPr>
              <a:t>OVERVIEW OF THE STARTING WINDOW</a:t>
            </a:r>
          </a:p>
        </p:txBody>
      </p:sp>
      <p:pic>
        <p:nvPicPr>
          <p:cNvPr id="4" name="Picture 3">
            <a:extLst>
              <a:ext uri="{FF2B5EF4-FFF2-40B4-BE49-F238E27FC236}">
                <a16:creationId xmlns:a16="http://schemas.microsoft.com/office/drawing/2014/main" id="{FE9A6F4F-4D33-FD40-A1AF-2A958FBF6D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458" y="1536487"/>
            <a:ext cx="7987561" cy="4532940"/>
          </a:xfrm>
          <a:prstGeom prst="rect">
            <a:avLst/>
          </a:prstGeom>
        </p:spPr>
      </p:pic>
    </p:spTree>
    <p:extLst>
      <p:ext uri="{BB962C8B-B14F-4D97-AF65-F5344CB8AC3E}">
        <p14:creationId xmlns:p14="http://schemas.microsoft.com/office/powerpoint/2010/main" val="2862327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BAB1-0692-36DE-C5AC-A97B12B80FE5}"/>
              </a:ext>
            </a:extLst>
          </p:cNvPr>
          <p:cNvSpPr>
            <a:spLocks noGrp="1"/>
          </p:cNvSpPr>
          <p:nvPr>
            <p:ph type="title"/>
          </p:nvPr>
        </p:nvSpPr>
        <p:spPr/>
        <p:txBody>
          <a:bodyPr/>
          <a:lstStyle/>
          <a:p>
            <a:r>
              <a:rPr lang="en-IN" dirty="0"/>
              <a:t>FEATURES:</a:t>
            </a:r>
          </a:p>
        </p:txBody>
      </p:sp>
      <p:sp>
        <p:nvSpPr>
          <p:cNvPr id="3" name="Content Placeholder 2">
            <a:extLst>
              <a:ext uri="{FF2B5EF4-FFF2-40B4-BE49-F238E27FC236}">
                <a16:creationId xmlns:a16="http://schemas.microsoft.com/office/drawing/2014/main" id="{A07B5251-929F-D5C7-4596-3449BEB83CED}"/>
              </a:ext>
            </a:extLst>
          </p:cNvPr>
          <p:cNvSpPr>
            <a:spLocks noGrp="1"/>
          </p:cNvSpPr>
          <p:nvPr>
            <p:ph idx="1"/>
          </p:nvPr>
        </p:nvSpPr>
        <p:spPr/>
        <p:txBody>
          <a:bodyPr/>
          <a:lstStyle/>
          <a:p>
            <a:r>
              <a:rPr lang="en-IN" dirty="0"/>
              <a:t>ADD STUDENT </a:t>
            </a:r>
          </a:p>
          <a:p>
            <a:r>
              <a:rPr lang="en-IN" dirty="0"/>
              <a:t>SEARCH STUDENT</a:t>
            </a:r>
          </a:p>
          <a:p>
            <a:r>
              <a:rPr lang="en-IN" dirty="0"/>
              <a:t>UPDATE STUDENT</a:t>
            </a:r>
          </a:p>
          <a:p>
            <a:r>
              <a:rPr lang="en-IN" dirty="0"/>
              <a:t>DELETE STUDENT</a:t>
            </a:r>
          </a:p>
          <a:p>
            <a:r>
              <a:rPr lang="en-IN" dirty="0"/>
              <a:t>DISPLAY STUDENTS</a:t>
            </a:r>
          </a:p>
          <a:p>
            <a:r>
              <a:rPr lang="en-IN" dirty="0"/>
              <a:t>CALULATE SGPA</a:t>
            </a:r>
          </a:p>
          <a:p>
            <a:r>
              <a:rPr lang="en-IN" dirty="0"/>
              <a:t>DISPLAY STUDENT STATISTICS</a:t>
            </a:r>
          </a:p>
          <a:p>
            <a:r>
              <a:rPr lang="en-IN" dirty="0"/>
              <a:t>SAVE AND EXIT</a:t>
            </a:r>
          </a:p>
          <a:p>
            <a:endParaRPr lang="en-IN" dirty="0"/>
          </a:p>
          <a:p>
            <a:endParaRPr lang="en-IN" dirty="0"/>
          </a:p>
          <a:p>
            <a:endParaRPr lang="en-IN" dirty="0"/>
          </a:p>
        </p:txBody>
      </p:sp>
    </p:spTree>
    <p:extLst>
      <p:ext uri="{BB962C8B-B14F-4D97-AF65-F5344CB8AC3E}">
        <p14:creationId xmlns:p14="http://schemas.microsoft.com/office/powerpoint/2010/main" val="3655507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B36C6-E1E7-7B43-27F1-B7778D4DF243}"/>
              </a:ext>
            </a:extLst>
          </p:cNvPr>
          <p:cNvSpPr>
            <a:spLocks noGrp="1"/>
          </p:cNvSpPr>
          <p:nvPr>
            <p:ph type="title"/>
          </p:nvPr>
        </p:nvSpPr>
        <p:spPr/>
        <p:txBody>
          <a:bodyPr/>
          <a:lstStyle/>
          <a:p>
            <a:r>
              <a:rPr lang="en-IN" dirty="0"/>
              <a:t>ADD STUDENT</a:t>
            </a:r>
          </a:p>
        </p:txBody>
      </p:sp>
      <p:sp>
        <p:nvSpPr>
          <p:cNvPr id="3" name="Content Placeholder 2">
            <a:extLst>
              <a:ext uri="{FF2B5EF4-FFF2-40B4-BE49-F238E27FC236}">
                <a16:creationId xmlns:a16="http://schemas.microsoft.com/office/drawing/2014/main" id="{F240759A-31DE-5250-0F3D-D4E3A5BC270E}"/>
              </a:ext>
            </a:extLst>
          </p:cNvPr>
          <p:cNvSpPr>
            <a:spLocks noGrp="1"/>
          </p:cNvSpPr>
          <p:nvPr>
            <p:ph idx="1"/>
          </p:nvPr>
        </p:nvSpPr>
        <p:spPr/>
        <p:txBody>
          <a:bodyPr/>
          <a:lstStyle/>
          <a:p>
            <a:r>
              <a:rPr lang="en-IN" dirty="0"/>
              <a:t>The following shows the parameters of a particular student:</a:t>
            </a:r>
          </a:p>
          <a:p>
            <a:pPr marL="0" indent="0">
              <a:buNone/>
            </a:pPr>
            <a:r>
              <a:rPr lang="en-IN" dirty="0"/>
              <a:t>On clicking the add button, the details of a</a:t>
            </a:r>
          </a:p>
          <a:p>
            <a:pPr marL="0" indent="0">
              <a:buNone/>
            </a:pPr>
            <a:r>
              <a:rPr lang="en-IN" dirty="0"/>
              <a:t>particular student get added, given the entered</a:t>
            </a:r>
          </a:p>
          <a:p>
            <a:pPr marL="0" indent="0">
              <a:buNone/>
            </a:pPr>
            <a:r>
              <a:rPr lang="en-IN" dirty="0"/>
              <a:t>Values are valid.</a:t>
            </a:r>
          </a:p>
          <a:p>
            <a:pPr marL="0" indent="0">
              <a:buNone/>
            </a:pPr>
            <a:r>
              <a:rPr lang="en-IN" dirty="0"/>
              <a:t>On clicking done, the ADD_STUDENT window </a:t>
            </a:r>
          </a:p>
          <a:p>
            <a:pPr marL="0" indent="0">
              <a:buNone/>
            </a:pPr>
            <a:r>
              <a:rPr lang="en-IN" dirty="0"/>
              <a:t>gets closed.</a:t>
            </a:r>
          </a:p>
          <a:p>
            <a:pPr marL="0" indent="0">
              <a:buNone/>
            </a:pPr>
            <a:r>
              <a:rPr lang="en-IN" dirty="0"/>
              <a:t>All the records </a:t>
            </a:r>
            <a:r>
              <a:rPr lang="en-IN" dirty="0" err="1"/>
              <a:t>added,deleted,updated</a:t>
            </a:r>
            <a:r>
              <a:rPr lang="en-IN" dirty="0"/>
              <a:t>, are </a:t>
            </a:r>
          </a:p>
          <a:p>
            <a:pPr marL="0" indent="0">
              <a:buNone/>
            </a:pPr>
            <a:r>
              <a:rPr lang="en-IN" dirty="0"/>
              <a:t>stored in a list variable called </a:t>
            </a:r>
            <a:r>
              <a:rPr lang="en-IN" b="1" dirty="0"/>
              <a:t>students.</a:t>
            </a:r>
          </a:p>
        </p:txBody>
      </p:sp>
      <p:pic>
        <p:nvPicPr>
          <p:cNvPr id="5" name="Picture 4">
            <a:extLst>
              <a:ext uri="{FF2B5EF4-FFF2-40B4-BE49-F238E27FC236}">
                <a16:creationId xmlns:a16="http://schemas.microsoft.com/office/drawing/2014/main" id="{F71BD1FE-B52A-83D7-20FE-638E4C036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3581" y="2359635"/>
            <a:ext cx="3704174" cy="4060951"/>
          </a:xfrm>
          <a:prstGeom prst="rect">
            <a:avLst/>
          </a:prstGeom>
        </p:spPr>
      </p:pic>
    </p:spTree>
    <p:extLst>
      <p:ext uri="{BB962C8B-B14F-4D97-AF65-F5344CB8AC3E}">
        <p14:creationId xmlns:p14="http://schemas.microsoft.com/office/powerpoint/2010/main" val="2631703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CEA2FE-9E68-3E05-90C1-CE73C90F5347}"/>
              </a:ext>
            </a:extLst>
          </p:cNvPr>
          <p:cNvSpPr>
            <a:spLocks noGrp="1"/>
          </p:cNvSpPr>
          <p:nvPr>
            <p:ph type="title"/>
          </p:nvPr>
        </p:nvSpPr>
        <p:spPr>
          <a:xfrm>
            <a:off x="586478" y="1683756"/>
            <a:ext cx="3115265" cy="2396359"/>
          </a:xfrm>
        </p:spPr>
        <p:txBody>
          <a:bodyPr anchor="b">
            <a:normAutofit/>
          </a:bodyPr>
          <a:lstStyle/>
          <a:p>
            <a:pPr algn="r"/>
            <a:r>
              <a:rPr lang="en-IN" sz="4000" dirty="0">
                <a:solidFill>
                  <a:srgbClr val="FFFFFF"/>
                </a:solidFill>
              </a:rPr>
              <a:t>STUDENTS</a:t>
            </a:r>
          </a:p>
        </p:txBody>
      </p:sp>
      <p:graphicFrame>
        <p:nvGraphicFramePr>
          <p:cNvPr id="5" name="Content Placeholder 2">
            <a:extLst>
              <a:ext uri="{FF2B5EF4-FFF2-40B4-BE49-F238E27FC236}">
                <a16:creationId xmlns:a16="http://schemas.microsoft.com/office/drawing/2014/main" id="{777BC449-04CA-6EBB-E5B3-4CDA7665AB82}"/>
              </a:ext>
            </a:extLst>
          </p:cNvPr>
          <p:cNvGraphicFramePr>
            <a:graphicFrameLocks noGrp="1"/>
          </p:cNvGraphicFramePr>
          <p:nvPr>
            <p:ph idx="1"/>
            <p:extLst>
              <p:ext uri="{D42A27DB-BD31-4B8C-83A1-F6EECF244321}">
                <p14:modId xmlns:p14="http://schemas.microsoft.com/office/powerpoint/2010/main" val="360739595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518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D349C6-CD98-8DC1-CC6F-C5034DB7F3AC}"/>
              </a:ext>
            </a:extLst>
          </p:cNvPr>
          <p:cNvSpPr>
            <a:spLocks noGrp="1"/>
          </p:cNvSpPr>
          <p:nvPr>
            <p:ph type="title"/>
          </p:nvPr>
        </p:nvSpPr>
        <p:spPr>
          <a:xfrm>
            <a:off x="1136396" y="457201"/>
            <a:ext cx="5814240" cy="1556870"/>
          </a:xfrm>
        </p:spPr>
        <p:txBody>
          <a:bodyPr anchor="b">
            <a:normAutofit/>
          </a:bodyPr>
          <a:lstStyle/>
          <a:p>
            <a:r>
              <a:rPr lang="en-IN" sz="4000"/>
              <a:t>DELETE STUDENT</a:t>
            </a:r>
          </a:p>
        </p:txBody>
      </p:sp>
      <p:sp>
        <p:nvSpPr>
          <p:cNvPr id="11" name="Content Placeholder 10">
            <a:extLst>
              <a:ext uri="{FF2B5EF4-FFF2-40B4-BE49-F238E27FC236}">
                <a16:creationId xmlns:a16="http://schemas.microsoft.com/office/drawing/2014/main" id="{6BCE67C2-B7A0-7DD7-A123-7676FE3EE12A}"/>
              </a:ext>
            </a:extLst>
          </p:cNvPr>
          <p:cNvSpPr>
            <a:spLocks noGrp="1"/>
          </p:cNvSpPr>
          <p:nvPr>
            <p:ph idx="1"/>
          </p:nvPr>
        </p:nvSpPr>
        <p:spPr>
          <a:xfrm>
            <a:off x="1136396" y="2277036"/>
            <a:ext cx="5814239" cy="3461155"/>
          </a:xfrm>
        </p:spPr>
        <p:txBody>
          <a:bodyPr>
            <a:normAutofit/>
          </a:bodyPr>
          <a:lstStyle/>
          <a:p>
            <a:pPr marL="0" indent="0">
              <a:buNone/>
            </a:pPr>
            <a:r>
              <a:rPr lang="en-US" sz="2000" dirty="0"/>
              <a:t>This is a relatively simpler function to use. </a:t>
            </a:r>
          </a:p>
          <a:p>
            <a:pPr marL="0" indent="0">
              <a:buNone/>
            </a:pPr>
            <a:r>
              <a:rPr lang="en-US" sz="2000" dirty="0"/>
              <a:t>In case there are no student records, it will display a pop-up showing the records are empty.</a:t>
            </a:r>
          </a:p>
          <a:p>
            <a:pPr marL="0" indent="0">
              <a:buNone/>
            </a:pPr>
            <a:r>
              <a:rPr lang="en-US" sz="2000" dirty="0"/>
              <a:t>In order to delete a student record from the database, just enter the correct ENROLLMENT ID of the student, in order to delete the entire student data.</a:t>
            </a:r>
          </a:p>
          <a:p>
            <a:pPr marL="0" indent="0">
              <a:buNone/>
            </a:pPr>
            <a:r>
              <a:rPr lang="en-US" sz="2000" dirty="0"/>
              <a:t>The clear All button clears the entire student records.</a:t>
            </a:r>
          </a:p>
        </p:txBody>
      </p:sp>
      <p:pic>
        <p:nvPicPr>
          <p:cNvPr id="5" name="Content Placeholder 4">
            <a:extLst>
              <a:ext uri="{FF2B5EF4-FFF2-40B4-BE49-F238E27FC236}">
                <a16:creationId xmlns:a16="http://schemas.microsoft.com/office/drawing/2014/main" id="{2B5BBDF8-3483-EC83-B316-18AF5C4629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9766" y="877896"/>
            <a:ext cx="3712869" cy="2053090"/>
          </a:xfrm>
          <a:prstGeom prst="rect">
            <a:avLst/>
          </a:prstGeom>
        </p:spPr>
      </p:pic>
      <p:pic>
        <p:nvPicPr>
          <p:cNvPr id="7" name="Picture 6">
            <a:extLst>
              <a:ext uri="{FF2B5EF4-FFF2-40B4-BE49-F238E27FC236}">
                <a16:creationId xmlns:a16="http://schemas.microsoft.com/office/drawing/2014/main" id="{70F4EA28-697E-0AFF-89F6-065F6780DD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5216" y="3375824"/>
            <a:ext cx="3193256" cy="2243263"/>
          </a:xfrm>
          <a:prstGeom prst="rect">
            <a:avLst/>
          </a:prstGeom>
        </p:spPr>
      </p:pic>
      <p:sp>
        <p:nvSpPr>
          <p:cNvPr id="31" name="Rectangle 30">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0562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C4B7E-EE87-C966-5128-BC38B022B6DA}"/>
              </a:ext>
            </a:extLst>
          </p:cNvPr>
          <p:cNvSpPr>
            <a:spLocks noGrp="1"/>
          </p:cNvSpPr>
          <p:nvPr>
            <p:ph type="title"/>
          </p:nvPr>
        </p:nvSpPr>
        <p:spPr>
          <a:xfrm>
            <a:off x="838200" y="365125"/>
            <a:ext cx="10515600" cy="5691861"/>
          </a:xfrm>
        </p:spPr>
        <p:txBody>
          <a:bodyPr>
            <a:normAutofit fontScale="90000"/>
          </a:bodyPr>
          <a:lstStyle/>
          <a:p>
            <a:br>
              <a:rPr lang="en-IN" dirty="0"/>
            </a:br>
            <a:r>
              <a:rPr lang="en-IN" sz="2800" dirty="0"/>
              <a:t>The following shows the system architecture to </a:t>
            </a:r>
            <a:br>
              <a:rPr lang="en-IN" sz="2800" dirty="0"/>
            </a:br>
            <a:r>
              <a:rPr lang="en-IN" sz="2800" dirty="0"/>
              <a:t>update the parameters of the student.</a:t>
            </a:r>
            <a:br>
              <a:rPr lang="en-IN" sz="2800" dirty="0"/>
            </a:br>
            <a:r>
              <a:rPr lang="en-IN" sz="2800" dirty="0"/>
              <a:t>As expected, in case the student record is </a:t>
            </a:r>
            <a:br>
              <a:rPr lang="en-IN" sz="2800" dirty="0"/>
            </a:br>
            <a:r>
              <a:rPr lang="en-IN" sz="2800" dirty="0"/>
              <a:t>empty, it will show the pop up box as shown above.</a:t>
            </a:r>
            <a:br>
              <a:rPr lang="en-IN" sz="2800" dirty="0"/>
            </a:br>
            <a:br>
              <a:rPr lang="en-IN" sz="2800" dirty="0"/>
            </a:br>
            <a:r>
              <a:rPr lang="en-IN" sz="2800" dirty="0"/>
              <a:t>In case the ENROLLMENT ID exists, it will show </a:t>
            </a:r>
            <a:br>
              <a:rPr lang="en-IN" sz="2800" dirty="0"/>
            </a:br>
            <a:r>
              <a:rPr lang="en-IN" sz="2800" dirty="0"/>
              <a:t>the grid as shown here. You can type in the </a:t>
            </a:r>
            <a:br>
              <a:rPr lang="en-IN" sz="2800" dirty="0"/>
            </a:br>
            <a:r>
              <a:rPr lang="en-IN" sz="2800" dirty="0"/>
              <a:t>updated </a:t>
            </a:r>
            <a:r>
              <a:rPr lang="en-IN" sz="2800" dirty="0" err="1"/>
              <a:t>name,enrolment</a:t>
            </a:r>
            <a:r>
              <a:rPr lang="en-IN" sz="2800" dirty="0"/>
              <a:t> </a:t>
            </a:r>
            <a:r>
              <a:rPr lang="en-IN" sz="2800" dirty="0" err="1"/>
              <a:t>number,marks</a:t>
            </a:r>
            <a:r>
              <a:rPr lang="en-IN" sz="2800" dirty="0"/>
              <a:t>,</a:t>
            </a:r>
            <a:br>
              <a:rPr lang="en-IN" sz="2800" dirty="0"/>
            </a:br>
            <a:r>
              <a:rPr lang="en-IN" sz="2800" dirty="0"/>
              <a:t>attendance, that is whichever parameter you want </a:t>
            </a:r>
            <a:br>
              <a:rPr lang="en-IN" sz="2800" dirty="0"/>
            </a:br>
            <a:r>
              <a:rPr lang="en-IN" sz="2800" dirty="0"/>
              <a:t>to update, and then click the corresponding </a:t>
            </a:r>
            <a:br>
              <a:rPr lang="en-IN" sz="2800" dirty="0"/>
            </a:br>
            <a:r>
              <a:rPr lang="en-IN" sz="2800" dirty="0"/>
              <a:t>button on the right.  </a:t>
            </a:r>
            <a:br>
              <a:rPr lang="en-IN" dirty="0"/>
            </a:br>
            <a:r>
              <a:rPr lang="en-IN" sz="2800" dirty="0"/>
              <a:t> </a:t>
            </a:r>
            <a:br>
              <a:rPr lang="en-IN" dirty="0"/>
            </a:br>
            <a:r>
              <a:rPr lang="en-IN" sz="2800" dirty="0"/>
              <a:t>After finishing the changes for a student, you can </a:t>
            </a:r>
            <a:br>
              <a:rPr lang="en-IN" sz="2800" dirty="0"/>
            </a:br>
            <a:r>
              <a:rPr lang="en-IN" sz="2800" dirty="0"/>
              <a:t>click on OK, and the function will reset.</a:t>
            </a:r>
            <a:br>
              <a:rPr lang="en-IN" dirty="0"/>
            </a:br>
            <a:br>
              <a:rPr lang="en-IN" dirty="0"/>
            </a:br>
            <a:br>
              <a:rPr lang="en-IN" dirty="0"/>
            </a:br>
            <a:endParaRPr lang="en-IN" dirty="0"/>
          </a:p>
        </p:txBody>
      </p:sp>
      <p:pic>
        <p:nvPicPr>
          <p:cNvPr id="5" name="Content Placeholder 4">
            <a:extLst>
              <a:ext uri="{FF2B5EF4-FFF2-40B4-BE49-F238E27FC236}">
                <a16:creationId xmlns:a16="http://schemas.microsoft.com/office/drawing/2014/main" id="{6AEB1445-9D88-2CFF-E4E5-4751F555E1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69656" y="457145"/>
            <a:ext cx="1987652" cy="1397072"/>
          </a:xfrm>
          <a:prstGeom prst="rect">
            <a:avLst/>
          </a:prstGeom>
        </p:spPr>
      </p:pic>
      <p:pic>
        <p:nvPicPr>
          <p:cNvPr id="7" name="Picture 6">
            <a:extLst>
              <a:ext uri="{FF2B5EF4-FFF2-40B4-BE49-F238E27FC236}">
                <a16:creationId xmlns:a16="http://schemas.microsoft.com/office/drawing/2014/main" id="{7B80267A-D9BA-9A61-7905-0615FC9F05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6436" y="2209189"/>
            <a:ext cx="4383608" cy="4542555"/>
          </a:xfrm>
          <a:prstGeom prst="rect">
            <a:avLst/>
          </a:prstGeom>
        </p:spPr>
      </p:pic>
    </p:spTree>
    <p:extLst>
      <p:ext uri="{BB962C8B-B14F-4D97-AF65-F5344CB8AC3E}">
        <p14:creationId xmlns:p14="http://schemas.microsoft.com/office/powerpoint/2010/main" val="4014652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AD459FB-58E2-2DB6-E16A-9499CA4182AD}"/>
              </a:ext>
            </a:extLst>
          </p:cNvPr>
          <p:cNvSpPr>
            <a:spLocks noGrp="1"/>
          </p:cNvSpPr>
          <p:nvPr>
            <p:ph type="title"/>
          </p:nvPr>
        </p:nvSpPr>
        <p:spPr>
          <a:xfrm>
            <a:off x="1046746" y="586822"/>
            <a:ext cx="3560252" cy="1645920"/>
          </a:xfrm>
        </p:spPr>
        <p:txBody>
          <a:bodyPr>
            <a:normAutofit/>
          </a:bodyPr>
          <a:lstStyle/>
          <a:p>
            <a:r>
              <a:rPr lang="en-IN" sz="3200"/>
              <a:t>Display Students</a:t>
            </a:r>
          </a:p>
        </p:txBody>
      </p:sp>
      <p:sp>
        <p:nvSpPr>
          <p:cNvPr id="14" name="Rectangle 1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9FBCD3E-ED9F-3614-3936-93FCCB92FB04}"/>
              </a:ext>
            </a:extLst>
          </p:cNvPr>
          <p:cNvSpPr>
            <a:spLocks noGrp="1"/>
          </p:cNvSpPr>
          <p:nvPr>
            <p:ph idx="1"/>
          </p:nvPr>
        </p:nvSpPr>
        <p:spPr>
          <a:xfrm>
            <a:off x="5351164" y="586822"/>
            <a:ext cx="6002636" cy="1645920"/>
          </a:xfrm>
        </p:spPr>
        <p:txBody>
          <a:bodyPr anchor="ctr">
            <a:normAutofit/>
          </a:bodyPr>
          <a:lstStyle/>
          <a:p>
            <a:r>
              <a:rPr lang="en-IN" sz="1800"/>
              <a:t>The </a:t>
            </a:r>
            <a:r>
              <a:rPr lang="en-IN" sz="1800" b="1"/>
              <a:t>students</a:t>
            </a:r>
            <a:r>
              <a:rPr lang="en-IN" sz="1800"/>
              <a:t> list will be converted to a dataframe, and stored in the form of a table and if the record is not empty, the student list will be displayed in the form of a table.</a:t>
            </a:r>
          </a:p>
        </p:txBody>
      </p:sp>
      <p:pic>
        <p:nvPicPr>
          <p:cNvPr id="5" name="Picture 4">
            <a:extLst>
              <a:ext uri="{FF2B5EF4-FFF2-40B4-BE49-F238E27FC236}">
                <a16:creationId xmlns:a16="http://schemas.microsoft.com/office/drawing/2014/main" id="{3893C62B-C2FD-4B68-0B81-1C848F5508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784" y="3750274"/>
            <a:ext cx="11164824" cy="2089317"/>
          </a:xfrm>
          <a:prstGeom prst="rect">
            <a:avLst/>
          </a:prstGeom>
        </p:spPr>
      </p:pic>
    </p:spTree>
    <p:extLst>
      <p:ext uri="{BB962C8B-B14F-4D97-AF65-F5344CB8AC3E}">
        <p14:creationId xmlns:p14="http://schemas.microsoft.com/office/powerpoint/2010/main" val="1649871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4BEC-2A3D-E4B4-BB8F-639C6B578109}"/>
              </a:ext>
            </a:extLst>
          </p:cNvPr>
          <p:cNvSpPr>
            <a:spLocks noGrp="1"/>
          </p:cNvSpPr>
          <p:nvPr>
            <p:ph type="title"/>
          </p:nvPr>
        </p:nvSpPr>
        <p:spPr/>
        <p:txBody>
          <a:bodyPr/>
          <a:lstStyle/>
          <a:p>
            <a:r>
              <a:rPr lang="en-IN" dirty="0"/>
              <a:t>SEARCH STUDENT</a:t>
            </a:r>
          </a:p>
        </p:txBody>
      </p:sp>
      <p:pic>
        <p:nvPicPr>
          <p:cNvPr id="5" name="Content Placeholder 4">
            <a:extLst>
              <a:ext uri="{FF2B5EF4-FFF2-40B4-BE49-F238E27FC236}">
                <a16:creationId xmlns:a16="http://schemas.microsoft.com/office/drawing/2014/main" id="{E50CEA12-A5BE-C957-7F50-A98EE17D2C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12853" y="1913407"/>
            <a:ext cx="4086473" cy="4351338"/>
          </a:xfrm>
          <a:prstGeom prst="rect">
            <a:avLst/>
          </a:prstGeom>
        </p:spPr>
      </p:pic>
      <p:sp>
        <p:nvSpPr>
          <p:cNvPr id="6" name="TextBox 5">
            <a:extLst>
              <a:ext uri="{FF2B5EF4-FFF2-40B4-BE49-F238E27FC236}">
                <a16:creationId xmlns:a16="http://schemas.microsoft.com/office/drawing/2014/main" id="{46E26600-736D-B2BE-3945-EAEFFD430F7E}"/>
              </a:ext>
            </a:extLst>
          </p:cNvPr>
          <p:cNvSpPr txBox="1"/>
          <p:nvPr/>
        </p:nvSpPr>
        <p:spPr>
          <a:xfrm>
            <a:off x="877824" y="2267712"/>
            <a:ext cx="6378854" cy="2031325"/>
          </a:xfrm>
          <a:prstGeom prst="rect">
            <a:avLst/>
          </a:prstGeom>
          <a:noFill/>
        </p:spPr>
        <p:txBody>
          <a:bodyPr wrap="square" rtlCol="0">
            <a:spAutoFit/>
          </a:bodyPr>
          <a:lstStyle/>
          <a:p>
            <a:r>
              <a:rPr lang="en-IN" dirty="0"/>
              <a:t>As given in the right, students in any student record as searched by entering their unique ENROLLMENT ID, and if the </a:t>
            </a:r>
            <a:r>
              <a:rPr lang="en-IN" dirty="0" err="1"/>
              <a:t>the</a:t>
            </a:r>
            <a:r>
              <a:rPr lang="en-IN" dirty="0"/>
              <a:t> student exits, it will show the data of the particular student as shown.</a:t>
            </a:r>
          </a:p>
          <a:p>
            <a:r>
              <a:rPr lang="en-IN" dirty="0"/>
              <a:t>If the student does not exist, it will display a pop-up as already </a:t>
            </a:r>
          </a:p>
          <a:p>
            <a:r>
              <a:rPr lang="en-IN" dirty="0"/>
              <a:t>specified earlier that either the STUDENT RECORD IS EMPTY</a:t>
            </a:r>
          </a:p>
          <a:p>
            <a:r>
              <a:rPr lang="en-IN" dirty="0"/>
              <a:t>,or the ENROLLMENT ID is not found.</a:t>
            </a:r>
          </a:p>
        </p:txBody>
      </p:sp>
    </p:spTree>
    <p:extLst>
      <p:ext uri="{BB962C8B-B14F-4D97-AF65-F5344CB8AC3E}">
        <p14:creationId xmlns:p14="http://schemas.microsoft.com/office/powerpoint/2010/main" val="2000432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A1AE7E5-EF21-7F35-726E-F2D4221DE21E}"/>
                  </a:ext>
                </a:extLst>
              </p:cNvPr>
              <p:cNvSpPr>
                <a:spLocks noGrp="1"/>
              </p:cNvSpPr>
              <p:nvPr>
                <p:ph type="title"/>
              </p:nvPr>
            </p:nvSpPr>
            <p:spPr>
              <a:xfrm>
                <a:off x="838200" y="365125"/>
                <a:ext cx="10515600" cy="3292475"/>
              </a:xfrm>
            </p:spPr>
            <p:txBody>
              <a:bodyPr/>
              <a:lstStyle/>
              <a:p>
                <a:r>
                  <a:rPr lang="en-IN" dirty="0"/>
                  <a:t>CALCULATE SGPA:</a:t>
                </a:r>
                <a:br>
                  <a:rPr lang="en-IN" dirty="0"/>
                </a:br>
                <a:r>
                  <a:rPr lang="en-IN" sz="1800" dirty="0"/>
                  <a:t>The following example shows the calculated result of SGPA for a sample data of 10 students, in the 3 defined courses. It first calculates the SGPA according to the formula:</a:t>
                </a:r>
                <a:br>
                  <a:rPr lang="en-IN" sz="1800" dirty="0"/>
                </a:br>
                <a14:m>
                  <m:oMathPara xmlns:m="http://schemas.openxmlformats.org/officeDocument/2006/math">
                    <m:oMathParaPr>
                      <m:jc m:val="centerGroup"/>
                    </m:oMathParaPr>
                    <m:oMath xmlns:m="http://schemas.openxmlformats.org/officeDocument/2006/math">
                      <m:r>
                        <m:rPr>
                          <m:sty m:val="p"/>
                        </m:rPr>
                        <a:rPr lang="en-IN" sz="1800" b="0" i="0" smtClean="0">
                          <a:latin typeface="Cambria Math" panose="02040503050406030204" pitchFamily="18" charset="0"/>
                        </a:rPr>
                        <m:t>SGPA</m:t>
                      </m:r>
                      <m:r>
                        <a:rPr lang="en-IN" sz="1800" b="0" i="0" smtClean="0">
                          <a:latin typeface="Cambria Math" panose="02040503050406030204" pitchFamily="18" charset="0"/>
                        </a:rPr>
                        <m:t>=</m:t>
                      </m:r>
                      <m:f>
                        <m:fPr>
                          <m:ctrlPr>
                            <a:rPr lang="en-IN" sz="1800" b="0" i="1" smtClean="0">
                              <a:latin typeface="Cambria Math" panose="02040503050406030204" pitchFamily="18" charset="0"/>
                            </a:rPr>
                          </m:ctrlPr>
                        </m:fPr>
                        <m:num>
                          <m:r>
                            <m:rPr>
                              <m:nor/>
                            </m:rPr>
                            <a:rPr lang="en-IN" sz="1800" i="0" smtClean="0"/>
                            <m:t>Σ</m:t>
                          </m:r>
                          <m:r>
                            <m:rPr>
                              <m:nor/>
                            </m:rPr>
                            <a:rPr lang="en-IN" sz="1800" b="0" i="0" smtClean="0"/>
                            <m:t>(</m:t>
                          </m:r>
                          <m:r>
                            <m:rPr>
                              <m:nor/>
                            </m:rPr>
                            <a:rPr lang="en-IN" sz="1800" b="0" i="0" smtClean="0"/>
                            <m:t>Credit</m:t>
                          </m:r>
                          <m:r>
                            <m:rPr>
                              <m:nor/>
                            </m:rPr>
                            <a:rPr lang="en-IN" sz="1800" b="0" i="0" smtClean="0"/>
                            <m:t>*</m:t>
                          </m:r>
                          <m:r>
                            <m:rPr>
                              <m:nor/>
                            </m:rPr>
                            <a:rPr lang="en-IN" sz="1800" b="0" i="0" smtClean="0"/>
                            <m:t>Grade</m:t>
                          </m:r>
                          <m:r>
                            <m:rPr>
                              <m:nor/>
                            </m:rPr>
                            <a:rPr lang="en-IN" sz="1800" b="0" i="0" smtClean="0"/>
                            <m:t> </m:t>
                          </m:r>
                          <m:r>
                            <m:rPr>
                              <m:nor/>
                            </m:rPr>
                            <a:rPr lang="en-IN" sz="1800" b="0" i="0" smtClean="0"/>
                            <m:t>Point</m:t>
                          </m:r>
                          <m:r>
                            <m:rPr>
                              <m:nor/>
                            </m:rPr>
                            <a:rPr lang="en-IN" sz="1800" b="0" i="0" smtClean="0"/>
                            <m:t>)</m:t>
                          </m:r>
                        </m:num>
                        <m:den>
                          <m:r>
                            <m:rPr>
                              <m:nor/>
                            </m:rPr>
                            <a:rPr lang="en-IN" sz="1800" i="0" smtClean="0"/>
                            <m:t>Σ</m:t>
                          </m:r>
                          <m:r>
                            <m:rPr>
                              <m:nor/>
                            </m:rPr>
                            <a:rPr lang="en-IN" sz="1800" b="0" i="0" smtClean="0"/>
                            <m:t>(</m:t>
                          </m:r>
                          <m:r>
                            <m:rPr>
                              <m:nor/>
                            </m:rPr>
                            <a:rPr lang="en-IN" sz="1800" b="0" i="0" smtClean="0"/>
                            <m:t>Credit</m:t>
                          </m:r>
                          <m:r>
                            <m:rPr>
                              <m:nor/>
                            </m:rPr>
                            <a:rPr lang="en-IN" sz="1800" b="0" i="0" smtClean="0"/>
                            <m:t>)</m:t>
                          </m:r>
                        </m:den>
                      </m:f>
                    </m:oMath>
                  </m:oMathPara>
                </a14:m>
                <a:br>
                  <a:rPr lang="en-IN" sz="1800" b="0" dirty="0"/>
                </a:br>
                <a:r>
                  <a:rPr lang="en-IN" sz="1800" b="0" dirty="0"/>
                  <a:t>In case there are no student record of marks, it will show  a pop-up of empty students.</a:t>
                </a:r>
                <a:endParaRPr lang="en-IN" dirty="0"/>
              </a:p>
            </p:txBody>
          </p:sp>
        </mc:Choice>
        <mc:Fallback>
          <p:sp>
            <p:nvSpPr>
              <p:cNvPr id="2" name="Title 1">
                <a:extLst>
                  <a:ext uri="{FF2B5EF4-FFF2-40B4-BE49-F238E27FC236}">
                    <a16:creationId xmlns:a16="http://schemas.microsoft.com/office/drawing/2014/main" id="{8A1AE7E5-EF21-7F35-726E-F2D4221DE21E}"/>
                  </a:ext>
                </a:extLst>
              </p:cNvPr>
              <p:cNvSpPr>
                <a:spLocks noGrp="1" noRot="1" noChangeAspect="1" noMove="1" noResize="1" noEditPoints="1" noAdjustHandles="1" noChangeArrowheads="1" noChangeShapeType="1" noTextEdit="1"/>
              </p:cNvSpPr>
              <p:nvPr>
                <p:ph type="title"/>
              </p:nvPr>
            </p:nvSpPr>
            <p:spPr>
              <a:xfrm>
                <a:off x="838200" y="365125"/>
                <a:ext cx="10515600" cy="3292475"/>
              </a:xfrm>
              <a:blipFill>
                <a:blip r:embed="rId2"/>
                <a:stretch>
                  <a:fillRect l="-2377"/>
                </a:stretch>
              </a:blipFill>
            </p:spPr>
            <p:txBody>
              <a:bodyPr/>
              <a:lstStyle/>
              <a:p>
                <a:r>
                  <a:rPr lang="en-IN">
                    <a:noFill/>
                  </a:rPr>
                  <a:t> </a:t>
                </a:r>
              </a:p>
            </p:txBody>
          </p:sp>
        </mc:Fallback>
      </mc:AlternateContent>
      <p:pic>
        <p:nvPicPr>
          <p:cNvPr id="4" name="Content Placeholder 3">
            <a:extLst>
              <a:ext uri="{FF2B5EF4-FFF2-40B4-BE49-F238E27FC236}">
                <a16:creationId xmlns:a16="http://schemas.microsoft.com/office/drawing/2014/main" id="{A7EFBD50-A857-9F67-156F-27E881A28677}"/>
              </a:ext>
            </a:extLst>
          </p:cNvPr>
          <p:cNvPicPr>
            <a:picLocks noGrp="1" noChangeAspect="1"/>
          </p:cNvPicPr>
          <p:nvPr>
            <p:ph idx="1"/>
          </p:nvPr>
        </p:nvPicPr>
        <p:blipFill>
          <a:blip r:embed="rId3"/>
          <a:stretch>
            <a:fillRect/>
          </a:stretch>
        </p:blipFill>
        <p:spPr>
          <a:xfrm>
            <a:off x="604113" y="4030675"/>
            <a:ext cx="10515600" cy="2253959"/>
          </a:xfrm>
          <a:prstGeom prst="rect">
            <a:avLst/>
          </a:prstGeom>
        </p:spPr>
      </p:pic>
    </p:spTree>
    <p:extLst>
      <p:ext uri="{BB962C8B-B14F-4D97-AF65-F5344CB8AC3E}">
        <p14:creationId xmlns:p14="http://schemas.microsoft.com/office/powerpoint/2010/main" val="2415810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E4863-9A8C-194F-46FF-D25C9874503D}"/>
              </a:ext>
            </a:extLst>
          </p:cNvPr>
          <p:cNvSpPr>
            <a:spLocks noGrp="1"/>
          </p:cNvSpPr>
          <p:nvPr>
            <p:ph type="title"/>
          </p:nvPr>
        </p:nvSpPr>
        <p:spPr/>
        <p:txBody>
          <a:bodyPr/>
          <a:lstStyle/>
          <a:p>
            <a:r>
              <a:rPr lang="en-IN" dirty="0"/>
              <a:t>DISPLAY STUDENT STATISTICS</a:t>
            </a:r>
          </a:p>
        </p:txBody>
      </p:sp>
      <p:pic>
        <p:nvPicPr>
          <p:cNvPr id="5" name="Content Placeholder 4">
            <a:extLst>
              <a:ext uri="{FF2B5EF4-FFF2-40B4-BE49-F238E27FC236}">
                <a16:creationId xmlns:a16="http://schemas.microsoft.com/office/drawing/2014/main" id="{E1A8888A-4542-1AED-20D7-633D113E13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8137" y="1690688"/>
            <a:ext cx="8415356" cy="4358982"/>
          </a:xfrm>
          <a:prstGeom prst="rect">
            <a:avLst/>
          </a:prstGeom>
        </p:spPr>
      </p:pic>
    </p:spTree>
    <p:extLst>
      <p:ext uri="{BB962C8B-B14F-4D97-AF65-F5344CB8AC3E}">
        <p14:creationId xmlns:p14="http://schemas.microsoft.com/office/powerpoint/2010/main" val="1719163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C3ECF0-743A-FD58-558C-3BD3ADF5F896}"/>
              </a:ext>
            </a:extLst>
          </p:cNvPr>
          <p:cNvSpPr>
            <a:spLocks noGrp="1"/>
          </p:cNvSpPr>
          <p:nvPr>
            <p:ph idx="1"/>
          </p:nvPr>
        </p:nvSpPr>
        <p:spPr>
          <a:xfrm>
            <a:off x="838200" y="424282"/>
            <a:ext cx="10515600" cy="5752681"/>
          </a:xfrm>
        </p:spPr>
        <p:txBody>
          <a:bodyPr/>
          <a:lstStyle/>
          <a:p>
            <a:r>
              <a:rPr lang="en-IN" dirty="0"/>
              <a:t>As shown in the previous slide, Matplotlib has been used to display the pie-chart of the CGPA distribution, and also the attendance which plays an important part in higher education.</a:t>
            </a:r>
          </a:p>
          <a:p>
            <a:r>
              <a:rPr lang="en-IN" dirty="0"/>
              <a:t>A few features are yet to be added, but these two give a rough idea of the performance of </a:t>
            </a:r>
            <a:r>
              <a:rPr lang="en-IN"/>
              <a:t>the class.</a:t>
            </a:r>
            <a:endParaRPr lang="en-IN" dirty="0"/>
          </a:p>
        </p:txBody>
      </p:sp>
    </p:spTree>
    <p:extLst>
      <p:ext uri="{BB962C8B-B14F-4D97-AF65-F5344CB8AC3E}">
        <p14:creationId xmlns:p14="http://schemas.microsoft.com/office/powerpoint/2010/main" val="3755645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3BB55-B17A-E01A-CA44-4399B24C8623}"/>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781BFB87-5BE3-6CE8-4209-068096F0D6FB}"/>
              </a:ext>
            </a:extLst>
          </p:cNvPr>
          <p:cNvSpPr>
            <a:spLocks noGrp="1"/>
          </p:cNvSpPr>
          <p:nvPr>
            <p:ph idx="1"/>
          </p:nvPr>
        </p:nvSpPr>
        <p:spPr/>
        <p:txBody>
          <a:bodyPr/>
          <a:lstStyle/>
          <a:p>
            <a:r>
              <a:rPr lang="en-IN" dirty="0"/>
              <a:t>Easy and effective to use, and maintain</a:t>
            </a:r>
          </a:p>
          <a:p>
            <a:r>
              <a:rPr lang="en-IN" i="1" dirty="0"/>
              <a:t>Has Data Validation </a:t>
            </a:r>
            <a:r>
              <a:rPr lang="en-IN" dirty="0"/>
              <a:t>benefits: the program ensures no invalid </a:t>
            </a:r>
            <a:r>
              <a:rPr lang="en-IN" dirty="0" err="1"/>
              <a:t>enrollmement</a:t>
            </a:r>
            <a:r>
              <a:rPr lang="en-IN" dirty="0"/>
              <a:t> ID, marks, or attendance are entered.</a:t>
            </a:r>
          </a:p>
          <a:p>
            <a:r>
              <a:rPr lang="en-IN" dirty="0"/>
              <a:t>Will provide a graphical, and true overview of the situation, and performance of the batch.</a:t>
            </a:r>
          </a:p>
          <a:p>
            <a:endParaRPr lang="en-IN" dirty="0"/>
          </a:p>
        </p:txBody>
      </p:sp>
    </p:spTree>
    <p:extLst>
      <p:ext uri="{BB962C8B-B14F-4D97-AF65-F5344CB8AC3E}">
        <p14:creationId xmlns:p14="http://schemas.microsoft.com/office/powerpoint/2010/main" val="2653283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0FBD3-E35F-F0F1-9F84-E1474490B79B}"/>
              </a:ext>
            </a:extLst>
          </p:cNvPr>
          <p:cNvSpPr>
            <a:spLocks noGrp="1"/>
          </p:cNvSpPr>
          <p:nvPr>
            <p:ph type="title"/>
          </p:nvPr>
        </p:nvSpPr>
        <p:spPr/>
        <p:txBody>
          <a:bodyPr/>
          <a:lstStyle/>
          <a:p>
            <a:r>
              <a:rPr lang="en-IN" dirty="0"/>
              <a:t>LIMITATIONS</a:t>
            </a:r>
          </a:p>
        </p:txBody>
      </p:sp>
      <p:sp>
        <p:nvSpPr>
          <p:cNvPr id="3" name="Content Placeholder 2">
            <a:extLst>
              <a:ext uri="{FF2B5EF4-FFF2-40B4-BE49-F238E27FC236}">
                <a16:creationId xmlns:a16="http://schemas.microsoft.com/office/drawing/2014/main" id="{4839E4B7-8CBF-8659-EED0-B01B406D5FA6}"/>
              </a:ext>
            </a:extLst>
          </p:cNvPr>
          <p:cNvSpPr>
            <a:spLocks noGrp="1"/>
          </p:cNvSpPr>
          <p:nvPr>
            <p:ph idx="1"/>
          </p:nvPr>
        </p:nvSpPr>
        <p:spPr/>
        <p:txBody>
          <a:bodyPr/>
          <a:lstStyle/>
          <a:p>
            <a:r>
              <a:rPr lang="en-IN" dirty="0"/>
              <a:t>Server make take time to load or save</a:t>
            </a:r>
          </a:p>
          <a:p>
            <a:r>
              <a:rPr lang="en-IN" dirty="0"/>
              <a:t>Not as easy to edit or save as Microsoft Excel</a:t>
            </a:r>
          </a:p>
          <a:p>
            <a:r>
              <a:rPr lang="en-IN" dirty="0"/>
              <a:t>The data frame can only store a record of maximum 60 students.</a:t>
            </a:r>
          </a:p>
          <a:p>
            <a:r>
              <a:rPr lang="en-IN" dirty="0"/>
              <a:t>It is difficult to enter data like this, because un schools and colleges, there are more courses, and one user cannot have data of all different subjects like this.</a:t>
            </a:r>
          </a:p>
          <a:p>
            <a:r>
              <a:rPr lang="en-IN" dirty="0"/>
              <a:t>There is no scope for course code currently in this project.</a:t>
            </a:r>
          </a:p>
          <a:p>
            <a:endParaRPr lang="en-IN" dirty="0"/>
          </a:p>
        </p:txBody>
      </p:sp>
    </p:spTree>
    <p:extLst>
      <p:ext uri="{BB962C8B-B14F-4D97-AF65-F5344CB8AC3E}">
        <p14:creationId xmlns:p14="http://schemas.microsoft.com/office/powerpoint/2010/main" val="978560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9763-762D-AEBF-84FB-E5C267B819B9}"/>
              </a:ext>
            </a:extLst>
          </p:cNvPr>
          <p:cNvSpPr>
            <a:spLocks noGrp="1"/>
          </p:cNvSpPr>
          <p:nvPr>
            <p:ph type="ctrTitle"/>
          </p:nvPr>
        </p:nvSpPr>
        <p:spPr/>
        <p:txBody>
          <a:bodyPr>
            <a:normAutofit fontScale="90000"/>
          </a:bodyPr>
          <a:lstStyle/>
          <a:p>
            <a:r>
              <a:rPr lang="en-IN" dirty="0"/>
              <a:t>We hope to improve more upon the </a:t>
            </a:r>
            <a:r>
              <a:rPr lang="en-IN" dirty="0" err="1"/>
              <a:t>interface,to</a:t>
            </a:r>
            <a:r>
              <a:rPr lang="en-IN" dirty="0"/>
              <a:t> make it more user-friendly!!!!!</a:t>
            </a:r>
          </a:p>
        </p:txBody>
      </p:sp>
      <p:sp>
        <p:nvSpPr>
          <p:cNvPr id="3" name="Subtitle 2">
            <a:extLst>
              <a:ext uri="{FF2B5EF4-FFF2-40B4-BE49-F238E27FC236}">
                <a16:creationId xmlns:a16="http://schemas.microsoft.com/office/drawing/2014/main" id="{E25B2393-6FF7-11E3-F89B-7F4814C90DBE}"/>
              </a:ext>
            </a:extLst>
          </p:cNvPr>
          <p:cNvSpPr>
            <a:spLocks noGrp="1"/>
          </p:cNvSpPr>
          <p:nvPr>
            <p:ph type="subTitle" idx="1"/>
          </p:nvPr>
        </p:nvSpPr>
        <p:spPr/>
        <p:txBody>
          <a:bodyPr/>
          <a:lstStyle/>
          <a:p>
            <a:r>
              <a:rPr lang="en-IN" dirty="0"/>
              <a:t>Thank you!!</a:t>
            </a:r>
          </a:p>
        </p:txBody>
      </p:sp>
    </p:spTree>
    <p:extLst>
      <p:ext uri="{BB962C8B-B14F-4D97-AF65-F5344CB8AC3E}">
        <p14:creationId xmlns:p14="http://schemas.microsoft.com/office/powerpoint/2010/main" val="2224313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4371</TotalTime>
  <Words>882</Words>
  <Application>Microsoft Office PowerPoint</Application>
  <PresentationFormat>Widescreen</PresentationFormat>
  <Paragraphs>64</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Algerian</vt:lpstr>
      <vt:lpstr>Aptos</vt:lpstr>
      <vt:lpstr>Aptos Display</vt:lpstr>
      <vt:lpstr>Arial</vt:lpstr>
      <vt:lpstr>Calibri</vt:lpstr>
      <vt:lpstr>Cambria Math</vt:lpstr>
      <vt:lpstr>Office Theme</vt:lpstr>
      <vt:lpstr>STUDENT PERFORMANCE ANALYSER</vt:lpstr>
      <vt:lpstr>OBJECTIVE</vt:lpstr>
      <vt:lpstr>                           PYTHON</vt:lpstr>
      <vt:lpstr>OVERVIEW OF THE STARTING WINDOW</vt:lpstr>
      <vt:lpstr>FEATURES:</vt:lpstr>
      <vt:lpstr>ADD STUDENT</vt:lpstr>
      <vt:lpstr>STUDENTS</vt:lpstr>
      <vt:lpstr>DELETE STUDENT</vt:lpstr>
      <vt:lpstr> The following shows the system architecture to  update the parameters of the student. As expected, in case the student record is  empty, it will show the pop up box as shown above.  In case the ENROLLMENT ID exists, it will show  the grid as shown here. You can type in the  updated name,enrolment number,marks, attendance, that is whichever parameter you want  to update, and then click the corresponding  button on the right.     After finishing the changes for a student, you can  click on OK, and the function will reset.   </vt:lpstr>
      <vt:lpstr>Display Students</vt:lpstr>
      <vt:lpstr>SEARCH STUDENT</vt:lpstr>
      <vt:lpstr>CALCULATE SGPA: The following example shows the calculated result of SGPA for a sample data of 10 students, in the 3 defined courses. It first calculates the SGPA according to the formula: SGPA="Σ(Credit*Grade Point)" /"Σ(Credit)"  In case there are no student record of marks, it will show  a pop-up of empty students.</vt:lpstr>
      <vt:lpstr>DISPLAY STUDENT STATISTICS</vt:lpstr>
      <vt:lpstr>PowerPoint Presentation</vt:lpstr>
      <vt:lpstr>ADVANTAGES:</vt:lpstr>
      <vt:lpstr>LIMITATIONS</vt:lpstr>
      <vt:lpstr>We hope to improve more upon the interface,to make it more user-friendly!!!!!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Amul Desai</dc:creator>
  <cp:lastModifiedBy>Amul Desai</cp:lastModifiedBy>
  <cp:revision>3</cp:revision>
  <dcterms:created xsi:type="dcterms:W3CDTF">2026-07-14T04:54:09Z</dcterms:created>
  <dcterms:modified xsi:type="dcterms:W3CDTF">2026-07-17T05:45:29Z</dcterms:modified>
</cp:coreProperties>
</file>